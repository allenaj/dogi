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one-liner: Dogi is Buy Me a Coffee meets cross-chain payments. Fans and clients pay with email only. Creators always receive USDC on Arbitrum.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on a real creator or freelancer who just wants a link, not a lecture on L2s.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30-second pitch. Everything else supports this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these are not two separate apps. Same balance, same login, same settlement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payer experience first, then mention the tech only if judges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each integration directly to a hackathon prize. Emphasize EIP-7702 in-place upgrade, not a new smart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if possible. Point judges to the GitHub repo for code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problem you solve: normal people should not need to understand chains to get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2" name="Picture 451" descr="masco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502920"/>
            <a:ext cx="1402080" cy="1051560"/>
          </a:xfrm>
          <a:prstGeom prst="rect">
            <a:avLst/>
          </a:prstGeom>
        </p:spPr>
      </p:pic>
      <p:sp>
        <p:nvSpPr>
          <p:cNvPr id="453" name="TextBox 452"/>
          <p:cNvSpPr txBox="1"/>
          <p:nvPr/>
        </p:nvSpPr>
        <p:spPr>
          <a:xfrm>
            <a:off x="777240" y="1737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5400" b="1">
                <a:solidFill>
                  <a:srgbClr val="0D0C22"/>
                </a:solidFill>
                <a:latin typeface="Aptos Display"/>
              </a:defRPr>
            </a:pPr>
            <a:r>
              <a:t>Dogi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278892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914400" y="2852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0D0C22"/>
                </a:solidFill>
                <a:latin typeface="Aptos"/>
              </a:defRPr>
            </a:pPr>
            <a:r>
              <a:t>Get paid from any chain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777240" y="370332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6F6A5E"/>
                </a:solidFill>
                <a:latin typeface="Aptos"/>
              </a:defRPr>
            </a:pPr>
            <a:r>
              <a:t>Coffee pages for creators. Payment links for everyone.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6F6A5E"/>
                </a:solidFill>
                <a:latin typeface="Aptos"/>
              </a:defRPr>
            </a:pPr>
            <a:r>
              <a:t>UXmaxx Hackathon · Universal Accounts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Getting paid across chains is still too hard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1828800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960120" y="2066543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1234440" y="193852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Creators and freelancers need wallet apps, seed phrases, and chain knowledge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777240" y="2633472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60120" y="2871215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1234440" y="274320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Payers hold assets on different chains and tokens</a:t>
            </a:r>
          </a:p>
        </p:txBody>
      </p:sp>
      <p:sp>
        <p:nvSpPr>
          <p:cNvPr id="460" name="Rounded Rectangle 459"/>
          <p:cNvSpPr/>
          <p:nvPr/>
        </p:nvSpPr>
        <p:spPr>
          <a:xfrm>
            <a:off x="777240" y="3438144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960120" y="3675887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1234440" y="3547872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Bridging, swapping, and gas kill conversion on simple payments</a:t>
            </a:r>
          </a:p>
        </p:txBody>
      </p:sp>
      <p:sp>
        <p:nvSpPr>
          <p:cNvPr id="463" name="Rounded Rectangle 462"/>
          <p:cNvSpPr/>
          <p:nvPr/>
        </p:nvSpPr>
        <p:spPr>
          <a:xfrm>
            <a:off x="777240" y="4242816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60120" y="4480559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1234440" y="4352544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Buy Me a Coffee works for fiat. Nothing comparable exists for Web3 natives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SOLUTION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Dogi: pay links that feel like email checkout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1828800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960120" y="2066543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1234440" y="193852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Payers log in with email and pay with whatever they hold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777240" y="2633472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60120" y="2871215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1234440" y="274320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Recipients always receive USDC on Arbitrum</a:t>
            </a:r>
          </a:p>
        </p:txBody>
      </p:sp>
      <p:sp>
        <p:nvSpPr>
          <p:cNvPr id="460" name="Rounded Rectangle 459"/>
          <p:cNvSpPr/>
          <p:nvPr/>
        </p:nvSpPr>
        <p:spPr>
          <a:xfrm>
            <a:off x="777240" y="3438144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960120" y="3675887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1234440" y="3547872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No wallet app, no seed phrase, no visible bridging</a:t>
            </a:r>
          </a:p>
        </p:txBody>
      </p:sp>
      <p:sp>
        <p:nvSpPr>
          <p:cNvPr id="463" name="Rounded Rectangle 462"/>
          <p:cNvSpPr/>
          <p:nvPr/>
        </p:nvSpPr>
        <p:spPr>
          <a:xfrm>
            <a:off x="777240" y="4242816"/>
            <a:ext cx="10607040" cy="65836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60120" y="4480559"/>
            <a:ext cx="128016" cy="128016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1234440" y="4352544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D0C22"/>
                </a:solidFill>
                <a:latin typeface="Aptos"/>
              </a:defRPr>
            </a:pPr>
            <a:r>
              <a:t>Fully client-side: payment data lives in the URL, no backend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TWO PRODUCTS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One account. Two ways to get paid.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1828800"/>
            <a:ext cx="507492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960120" y="1993392"/>
            <a:ext cx="4709159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☕ Coffee page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F6A5E"/>
                </a:solidFill>
                <a:latin typeface="Aptos"/>
              </a:defRPr>
            </a:pPr>
            <a:r>
              <a:t>Buy-me-a-coffee style page. Fans pick 1, 3, or 5 coffees, leave a note, and pay in one tap from any chain.</a:t>
            </a:r>
          </a:p>
        </p:txBody>
      </p:sp>
      <p:sp>
        <p:nvSpPr>
          <p:cNvPr id="456" name="Rounded Rectangle 455"/>
          <p:cNvSpPr/>
          <p:nvPr/>
        </p:nvSpPr>
        <p:spPr>
          <a:xfrm>
            <a:off x="6172200" y="1828800"/>
            <a:ext cx="507492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6355080" y="1993392"/>
            <a:ext cx="4709159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🔗 Payment links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F6A5E"/>
                </a:solidFill>
                <a:latin typeface="Aptos"/>
              </a:defRPr>
            </a:pPr>
            <a:r>
              <a:t>Set an amount and note, share the link. Clients log in with email and pay with whatever they hold.</a:t>
            </a:r>
          </a:p>
        </p:txBody>
      </p:sp>
      <p:sp>
        <p:nvSpPr>
          <p:cNvPr id="458" name="Rounded Rectangle 457"/>
          <p:cNvSpPr/>
          <p:nvPr/>
        </p:nvSpPr>
        <p:spPr>
          <a:xfrm>
            <a:off x="2926080" y="5166360"/>
            <a:ext cx="6217920" cy="566928"/>
          </a:xfrm>
          <a:prstGeom prst="roundRect">
            <a:avLst>
              <a:gd name="adj" fmla="val 50000"/>
            </a:avLst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3063240" y="5230368"/>
            <a:ext cx="5943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D0C22"/>
                </a:solidFill>
                <a:latin typeface="Aptos"/>
              </a:defRPr>
            </a:pPr>
            <a:r>
              <a:t>Both settle as USDC on Arbitrum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Invisible cross-chain routing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1965960"/>
            <a:ext cx="224028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554480" y="2240280"/>
            <a:ext cx="502920" cy="50292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1554480" y="230428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914400" y="2926080"/>
            <a:ext cx="1965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0D0C22"/>
                </a:solidFill>
                <a:latin typeface="Aptos"/>
              </a:defRPr>
            </a:pPr>
            <a:r>
              <a:t>Log in with email</a:t>
            </a:r>
          </a:p>
          <a:p>
            <a:pPr algn="ctr">
              <a:spcAft>
                <a:spcPts val="800"/>
              </a:spcAft>
              <a:defRPr sz="1100" b="0">
                <a:solidFill>
                  <a:srgbClr val="6F6A5E"/>
                </a:solidFill>
                <a:latin typeface="Aptos"/>
              </a:defRPr>
            </a:pPr>
            <a:r>
              <a:t>Magic creates a non-custodial wallet. No app, no seed phrase.</a:t>
            </a:r>
          </a:p>
        </p:txBody>
      </p:sp>
      <p:sp>
        <p:nvSpPr>
          <p:cNvPr id="458" name="Rounded Rectangle 457"/>
          <p:cNvSpPr/>
          <p:nvPr/>
        </p:nvSpPr>
        <p:spPr>
          <a:xfrm>
            <a:off x="3246120" y="1965960"/>
            <a:ext cx="224028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4023359" y="2240280"/>
            <a:ext cx="502920" cy="50292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4023359" y="230428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3383279" y="2926080"/>
            <a:ext cx="1965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0D0C22"/>
                </a:solidFill>
                <a:latin typeface="Aptos"/>
              </a:defRPr>
            </a:pPr>
            <a:r>
              <a:t>Pay with any token</a:t>
            </a:r>
          </a:p>
          <a:p>
            <a:pPr algn="ctr">
              <a:spcAft>
                <a:spcPts val="800"/>
              </a:spcAft>
              <a:defRPr sz="1100" b="0">
                <a:solidFill>
                  <a:srgbClr val="6F6A5E"/>
                </a:solidFill>
                <a:latin typeface="Aptos"/>
              </a:defRPr>
            </a:pPr>
            <a:r>
              <a:t>ETH on Base, SOL on Solana, USDT on BNB Chain.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5715000" y="1965960"/>
            <a:ext cx="224028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6492240" y="230428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852160" y="2926080"/>
            <a:ext cx="1965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0D0C22"/>
                </a:solidFill>
                <a:latin typeface="Aptos"/>
              </a:defRPr>
            </a:pPr>
            <a:r>
              <a:t>UA routes liquidity</a:t>
            </a:r>
          </a:p>
          <a:p>
            <a:pPr algn="ctr">
              <a:spcAft>
                <a:spcPts val="800"/>
              </a:spcAft>
              <a:defRPr sz="1100" b="0">
                <a:solidFill>
                  <a:srgbClr val="6F6A5E"/>
                </a:solidFill>
                <a:latin typeface="Aptos"/>
              </a:defRPr>
            </a:pPr>
            <a:r>
              <a:t>Particle Universal Account in EIP-7702 mode.</a:t>
            </a:r>
          </a:p>
        </p:txBody>
      </p:sp>
      <p:sp>
        <p:nvSpPr>
          <p:cNvPr id="466" name="Rounded Rectangle 465"/>
          <p:cNvSpPr/>
          <p:nvPr/>
        </p:nvSpPr>
        <p:spPr>
          <a:xfrm>
            <a:off x="8183879" y="1965960"/>
            <a:ext cx="224028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8961119" y="2240280"/>
            <a:ext cx="502920" cy="50292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8961119" y="230428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8321040" y="2926080"/>
            <a:ext cx="1965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0D0C22"/>
                </a:solidFill>
                <a:latin typeface="Aptos"/>
              </a:defRPr>
            </a:pPr>
            <a:r>
              <a:t>Receiver gets USDC</a:t>
            </a:r>
          </a:p>
          <a:p>
            <a:pPr algn="ctr">
              <a:spcAft>
                <a:spcPts val="800"/>
              </a:spcAft>
              <a:defRPr sz="1100" b="0">
                <a:solidFill>
                  <a:srgbClr val="6F6A5E"/>
                </a:solidFill>
                <a:latin typeface="Aptos"/>
              </a:defRPr>
            </a:pPr>
            <a:r>
              <a:t>Settlement always lands on Arbitrum.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TECH STACK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Built for the bounty tracks</a:t>
            </a:r>
          </a:p>
        </p:txBody>
      </p:sp>
      <p:sp>
        <p:nvSpPr>
          <p:cNvPr id="454" name="Rounded Rectangle 453"/>
          <p:cNvSpPr/>
          <p:nvPr/>
        </p:nvSpPr>
        <p:spPr>
          <a:xfrm>
            <a:off x="777240" y="182880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960120" y="1993392"/>
            <a:ext cx="30632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Magic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F6A5E"/>
                </a:solidFill>
                <a:latin typeface="Aptos"/>
              </a:defRPr>
            </a:pPr>
            <a:r>
              <a:t>Email OTP login</a:t>
            </a:r>
            <a:br/>
            <a:r>
              <a:t>Embedded EOA wallet</a:t>
            </a:r>
            <a:br/>
            <a:r>
              <a:t>EIP-7702 signing</a:t>
            </a:r>
          </a:p>
        </p:txBody>
      </p:sp>
      <p:sp>
        <p:nvSpPr>
          <p:cNvPr id="456" name="Rounded Rectangle 455"/>
          <p:cNvSpPr/>
          <p:nvPr/>
        </p:nvSpPr>
        <p:spPr>
          <a:xfrm>
            <a:off x="960120" y="49834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1005840" y="5029200"/>
            <a:ext cx="2971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100" b="1">
                <a:solidFill>
                  <a:srgbClr val="0D0C22"/>
                </a:solidFill>
                <a:latin typeface="Aptos"/>
              </a:defRPr>
            </a:pPr>
            <a:r>
              <a:t>Magic Labs bonus</a:t>
            </a:r>
          </a:p>
        </p:txBody>
      </p:sp>
      <p:sp>
        <p:nvSpPr>
          <p:cNvPr id="458" name="Rounded Rectangle 457"/>
          <p:cNvSpPr/>
          <p:nvPr/>
        </p:nvSpPr>
        <p:spPr>
          <a:xfrm>
            <a:off x="4480559" y="182880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663440" y="1993392"/>
            <a:ext cx="30632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Particle UA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F6A5E"/>
                </a:solidFill>
                <a:latin typeface="Aptos"/>
              </a:defRPr>
            </a:pPr>
            <a:r>
              <a:t>EIP-7702 mode</a:t>
            </a:r>
            <a:br/>
            <a:r>
              <a:t>One balance, 6 chains</a:t>
            </a:r>
            <a:br/>
            <a:r>
              <a:t>Cross-chain transfer API</a:t>
            </a:r>
          </a:p>
        </p:txBody>
      </p:sp>
      <p:sp>
        <p:nvSpPr>
          <p:cNvPr id="460" name="Rounded Rectangle 459"/>
          <p:cNvSpPr/>
          <p:nvPr/>
        </p:nvSpPr>
        <p:spPr>
          <a:xfrm>
            <a:off x="4663440" y="49834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4709159" y="5029200"/>
            <a:ext cx="2971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100" b="1">
                <a:solidFill>
                  <a:srgbClr val="0D0C22"/>
                </a:solidFill>
                <a:latin typeface="Aptos"/>
              </a:defRPr>
            </a:pPr>
            <a:r>
              <a:t>Universal Accounts Track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8183879" y="182880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8366759" y="1993392"/>
            <a:ext cx="30632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0D0C22"/>
                </a:solidFill>
                <a:latin typeface="Aptos"/>
              </a:defRPr>
            </a:pPr>
            <a:r>
              <a:t>Arbitrum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6F6A5E"/>
                </a:solidFill>
                <a:latin typeface="Aptos"/>
              </a:defRPr>
            </a:pPr>
            <a:r>
              <a:t>USDC settlement layer</a:t>
            </a:r>
            <a:br/>
            <a:r>
              <a:t>Invisible to payers</a:t>
            </a:r>
            <a:br/>
            <a:r>
              <a:t>Every payment lands here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8366759" y="49834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8412480" y="5029200"/>
            <a:ext cx="2971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100" b="1">
                <a:solidFill>
                  <a:srgbClr val="0D0C22"/>
                </a:solidFill>
                <a:latin typeface="Aptos"/>
              </a:defRPr>
            </a:pPr>
            <a:r>
              <a:t>Arbitrum bounty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640080" y="4114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6F6A5E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77724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D0C22"/>
                </a:solidFill>
                <a:latin typeface="Aptos Display"/>
              </a:defRPr>
            </a:pPr>
            <a:r>
              <a:t>Try it in 2 minutes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868680" y="1828800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0D0C22"/>
                </a:solidFill>
                <a:latin typeface="Aptos"/>
              </a:defRPr>
            </a:pPr>
            <a:r>
              <a:t>1. Log in with email on dogi.app (or localhost)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868680" y="2395728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0D0C22"/>
                </a:solidFill>
                <a:latin typeface="Aptos"/>
              </a:defRPr>
            </a:pPr>
            <a:r>
              <a:t>2. Create a coffee page or payment link on the dashboard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68680" y="2962656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0D0C22"/>
                </a:solidFill>
                <a:latin typeface="Aptos"/>
              </a:defRPr>
            </a:pPr>
            <a:r>
              <a:t>3. Open the link in incognito with a second email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868680" y="3529584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0D0C22"/>
                </a:solidFill>
                <a:latin typeface="Aptos"/>
              </a:defRPr>
            </a:pPr>
            <a:r>
              <a:t>4. Pay with any supported token on any chain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868680" y="4096512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0D0C22"/>
                </a:solidFill>
                <a:latin typeface="Aptos"/>
              </a:defRPr>
            </a:pPr>
            <a:r>
              <a:t>5. Receiver balance updates as USDC on Arbitrum</a:t>
            </a:r>
          </a:p>
        </p:txBody>
      </p:sp>
      <p:sp>
        <p:nvSpPr>
          <p:cNvPr id="459" name="Rounded Rectangle 458"/>
          <p:cNvSpPr/>
          <p:nvPr/>
        </p:nvSpPr>
        <p:spPr>
          <a:xfrm>
            <a:off x="7635240" y="1828800"/>
            <a:ext cx="3749039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DE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818120" y="2011680"/>
            <a:ext cx="338328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6F6A5E"/>
                </a:solidFill>
                <a:latin typeface="Aptos"/>
              </a:defRPr>
            </a:pPr>
            <a:r>
              <a:t>Invoice #42</a:t>
            </a:r>
          </a:p>
          <a:p>
            <a:pPr algn="ctr">
              <a:spcAft>
                <a:spcPts val="800"/>
              </a:spcAft>
              <a:defRPr sz="1200" b="1">
                <a:solidFill>
                  <a:srgbClr val="0D0C22"/>
                </a:solidFill>
                <a:latin typeface="Aptos"/>
              </a:defRPr>
            </a:pPr>
            <a:r>
              <a:t>Paid ✓</a:t>
            </a:r>
          </a:p>
          <a:p>
            <a:pPr algn="ctr">
              <a:spcAft>
                <a:spcPts val="800"/>
              </a:spcAft>
              <a:defRPr sz="3600" b="1">
                <a:solidFill>
                  <a:srgbClr val="0D0C22"/>
                </a:solidFill>
                <a:latin typeface="Aptos Display"/>
              </a:defRPr>
            </a:pPr>
            <a:r>
              <a:t>$25.00</a:t>
            </a:r>
          </a:p>
          <a:p>
            <a:pPr algn="ctr">
              <a:spcAft>
                <a:spcPts val="800"/>
              </a:spcAft>
              <a:defRPr sz="1200" b="0">
                <a:solidFill>
                  <a:srgbClr val="6F6A5E"/>
                </a:solidFill>
                <a:latin typeface="Aptos"/>
              </a:defRPr>
            </a:pPr>
            <a:r>
              <a:t>settled as USDC on Arbitrum</a:t>
            </a:r>
          </a:p>
          <a:p>
            <a:pPr algn="ctr">
              <a:spcAft>
                <a:spcPts val="800"/>
              </a:spcAft>
              <a:defRPr sz="800" b="0">
                <a:solidFill>
                  <a:srgbClr val="6F6A5E"/>
                </a:solidFill>
                <a:latin typeface="Aptos"/>
              </a:defRPr>
            </a:pPr>
          </a:p>
          <a:p>
            <a:pPr algn="ctr">
              <a:spcAft>
                <a:spcPts val="800"/>
              </a:spcAft>
              <a:defRPr sz="1300" b="1">
                <a:solidFill>
                  <a:srgbClr val="0D0C22"/>
                </a:solidFill>
                <a:latin typeface="Aptos"/>
              </a:defRPr>
            </a:pPr>
            <a:r>
              <a:t>github.com/AllenAJ/Dogi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23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81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23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86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9406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2948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649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031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3573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7115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65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199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7740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282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4824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3661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1907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449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89914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2533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60749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6167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31585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67002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2420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37838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73256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908673" y="150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23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81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3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586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406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32948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49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31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573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115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65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4199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7740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1282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4824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683661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1907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5449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989914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2533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0749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96167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31585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167002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02420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037838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73256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908673" y="578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23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781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2323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86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406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2948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649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0031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3573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7115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65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4199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7740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1282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24824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83661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1907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5449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989914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2533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0749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296167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731585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7002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02420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037838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473256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908673" y="1007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523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781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323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4586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9406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2948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7649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0031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3573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07115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065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94199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7740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81282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824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83661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11907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449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89914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533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860749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96167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731585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67002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602420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037838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73256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908673" y="1435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23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8781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2323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586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89406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2948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649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20031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63573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07115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5065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4199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7740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282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24824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83661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11907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5449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89914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2533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60749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96167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731585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67002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602420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037838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473256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908673" y="1864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23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8781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2323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4586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9406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32948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7649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20031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3573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7115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65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94199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7740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81282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4824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683661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1907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55449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989914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2533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749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296167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31585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167002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602420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037838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473256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908673" y="2293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523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8781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2323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4586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9406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32948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7649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0031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63573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07115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5065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94199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37740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81282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24824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683661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11907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55449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989914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42533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60749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296167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731585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167002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602420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1037838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473256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908673" y="2721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523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8781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323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4586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9406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32948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649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20031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63573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07115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5065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94199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37740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1282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24824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683661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11907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55449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89914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42533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860749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296167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731585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0167002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0602420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1037838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473256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1908673" y="3150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523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8781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2323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4586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89406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2948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7649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20031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3573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07115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5065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94199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37740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81282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624824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683661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11907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5449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89914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2533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0749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296167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1585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167002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02420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1037838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473256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1908673" y="35790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523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8781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02323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4586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9406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32948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7649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20031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63573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07115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065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94199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7740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1282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4824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683661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11907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755449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7989914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42533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60749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296167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31585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167002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602420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1037838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1473256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1908673" y="40076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523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781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2323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4586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89406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2948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7649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320031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3573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07115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5065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94199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37740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81282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24824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83661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711907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55449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7989914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42533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8860749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296167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731585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67002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602420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1037838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1473256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1908673" y="44362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523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8781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2323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4586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89406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32948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7649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20031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63573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07115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5065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94199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37740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81282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24824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6683661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11907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5449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989914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42533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860749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296167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731585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167002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602420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1037838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1473256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908673" y="48648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523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8781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02323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14586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89406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2948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7649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20031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63573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7115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5065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94199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7740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81282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624824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683661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11907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55449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989914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842533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8860749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296167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731585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10167002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602420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1037838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1473256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1908673" y="529351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523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8781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2323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4586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89406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2948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7649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20031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63573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407115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065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94199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7740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81282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624824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683661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11907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55449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989914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42533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60749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296167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731585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167002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602420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1037838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1473256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908673" y="572214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523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781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2323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4586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89406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32948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49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20031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3573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07115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065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94199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7740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81282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624824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6683661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11907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55449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89914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42533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8860749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6167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731585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167002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602420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37838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1473256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1908673" y="6150768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523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8781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2323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4586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89406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32948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7649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20031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573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07115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5065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94199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37740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81282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24824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6683661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1907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55449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989914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842533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8860749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296167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731585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167002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02420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037838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473256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908673" y="6579393"/>
            <a:ext cx="41148" cy="41148"/>
          </a:xfrm>
          <a:prstGeom prst="ellipse">
            <a:avLst/>
          </a:prstGeom>
          <a:solidFill>
            <a:srgbClr val="E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-822960" y="4754880"/>
            <a:ext cx="2194560" cy="2194560"/>
          </a:xfrm>
          <a:prstGeom prst="ellipse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2" name="Picture 451" descr="masco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34440"/>
            <a:ext cx="1706880" cy="1280160"/>
          </a:xfrm>
          <a:prstGeom prst="rect">
            <a:avLst/>
          </a:prstGeom>
        </p:spPr>
      </p:pic>
      <p:sp>
        <p:nvSpPr>
          <p:cNvPr id="453" name="TextBox 452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0D0C22"/>
                </a:solidFill>
                <a:latin typeface="Aptos Display"/>
              </a:defRPr>
            </a:pPr>
            <a:r>
              <a:t>Cross-chain payments,</a:t>
            </a:r>
          </a:p>
          <a:p>
            <a:pPr algn="l">
              <a:spcAft>
                <a:spcPts val="800"/>
              </a:spcAft>
              <a:defRPr sz="4000" b="1">
                <a:solidFill>
                  <a:srgbClr val="0D0C22"/>
                </a:solidFill>
                <a:latin typeface="Aptos Display"/>
              </a:defRPr>
            </a:pPr>
            <a:r>
              <a:t>as easy as email.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777240" y="36576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6F6A5E"/>
                </a:solidFill>
                <a:latin typeface="Aptos"/>
              </a:defRPr>
            </a:pPr>
            <a:r>
              <a:t>Dogi · github.com/AllenAJ/Dogi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6F6A5E"/>
                </a:solidFill>
                <a:latin typeface="Aptos"/>
              </a:defRPr>
            </a:pPr>
            <a:r>
              <a:t>Built with Magic · Particle Universal Accounts · Arbitrum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